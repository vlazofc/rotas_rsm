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pt-P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2B43D-94B9-DE59-68AA-6E2C2A047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3A2646-E29F-FD37-7288-79237C133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ADFC10-4A31-E25D-B551-7E017D52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F92FA-A613-D3A8-5B36-173D40197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226553-2678-8C78-64CC-7D045E60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10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98BE8-25A4-93F9-5297-153F171F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A81796-3794-9B01-21AA-C8A3E6D2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D79304-ECAF-18EC-F30B-676B8BD7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8AD000-A27E-C40F-C582-F129AA29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8A550F-AE43-6AAA-B996-C73CE6FA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755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AC645-A87C-2D86-F678-08CEE1381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C5B90-12F0-2839-1355-884536A0C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E53E40-3A92-9ADC-6E9B-829B5BFE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7F0D5C-3007-FAFE-983B-04F80F9A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BF11D8-EC99-48DC-2E6A-F36AB150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12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50AD1-A1FC-AB9C-BBD1-874C4528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D07F5F-9704-1457-9BF5-8E8945764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B8B84F-1536-825A-4515-38D87C3A1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3A84F2-5E0F-7A98-B6CF-9FC97250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8513A1-60B1-239B-3716-C392402B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69163A-D808-8D95-51EF-DD27B209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68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57882-24D5-28AC-6674-69909265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33909C-638D-E383-ACD5-C7274A3D4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B8AE03-8C8B-974F-573E-BA26C335E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ABD3D3-1D9E-29FD-C720-BD1446855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AAE7A65-C680-C66F-EDD8-C1B32730B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2AC0DA7-82DF-F68C-BE75-F164DA33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F69ACF-1400-73E4-01F2-A0F4954E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93D0D1-35B7-E635-516D-E791F0D9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77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93BF2-5AC2-9050-3E4E-D1B67373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ACA420-4F3A-C785-A094-C95D22BE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2A9AC4-46AE-EF9D-3BAF-01CF6CB6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B465B0F-BD00-3A0A-073B-37A42ED3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20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7EF94A-B61B-6ACF-0DA6-0DC2B11B0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A4DCA2-5A73-58BA-02D2-F284908A5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BA3E22-3CCF-4962-359E-537EE6473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18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3BADE-3492-91A2-0052-AC857BD4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35457B-6C2C-C204-4C9B-13FBDD34A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F9B8F4-0345-5761-D634-D3F665D8B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61F367-B1E2-E13C-358E-589EA281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044C09-3A22-5C2C-AF45-A4AFDB74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7550A9-4B3C-3EFD-81EB-0F0021BB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88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58CAC-2ACD-5ACC-6AB0-9490653F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D6F839-4966-3210-6A7C-F02ECA303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366120-5A42-E93C-922F-8191A2C4D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161F89-4D46-1195-E6E1-CCB641AF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9860A0-6CB7-C21D-EE94-7DAB1E06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F1BBB6-1535-A729-E893-0EC9AB26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43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72F3C-184E-A6B3-3A4C-6B2E4E0E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9C0399-9F96-71A0-1D94-7797C81F5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8448C-C5E2-7CB7-F17E-513DD59D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0DAEE8-9F23-B340-2A8D-4D31D169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4EF108-A07D-6F69-1970-58A89D3F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26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141362-AFC5-E6EF-3B9D-CC2778E79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2BAB41-6BED-792C-0A28-63DF8C5EB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A775E-B90E-9E27-7E68-F74F7ABA9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39A33B-CA12-83E7-87DA-EA32BAFF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5A9AE5-D823-1584-C866-1CB98A97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678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79C438D-D9D6-9253-6069-6ACA407E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60E02A-0683-E59F-23D1-0AD150199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D79D43-FEEA-E9CF-A8CB-329F59338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C563A-32F6-4ED9-9D54-AA1F48E434B5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B20A81-728F-1135-C024-42993870F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A7BB4F-3F5A-1F36-5993-563AFD651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EA5C9-8A69-4D0E-8A06-54CB6AA424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338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9985488-3242-B2DF-B193-918A8F146D0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264A5B-F67F-B160-A4E1-6EDD603C3251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AA1718-28EA-D484-BF23-4D2D8C6C2A97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APRESENTAÇÃO INSTITUCIONAL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49B2F7-1F41-032C-4B99-485830A983F1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50B642-86DD-A20C-B5D2-8EEA2D1031D3}"/>
              </a:ext>
            </a:extLst>
          </p:cNvPr>
          <p:cNvSpPr txBox="1"/>
          <p:nvPr/>
        </p:nvSpPr>
        <p:spPr>
          <a:xfrm>
            <a:off x="609600" y="1524000"/>
            <a:ext cx="914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400" b="1">
                <a:solidFill>
                  <a:srgbClr val="0B2035"/>
                </a:solidFill>
                <a:latin typeface="Aptos" panose="020B0004020202020204" pitchFamily="34" charset="0"/>
              </a:rPr>
              <a:t>Da operação à decisão,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0DC919-41B8-E339-3677-CB2E14A3B3E5}"/>
              </a:ext>
            </a:extLst>
          </p:cNvPr>
          <p:cNvSpPr txBox="1"/>
          <p:nvPr/>
        </p:nvSpPr>
        <p:spPr>
          <a:xfrm>
            <a:off x="609600" y="21844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400" b="1">
                <a:solidFill>
                  <a:srgbClr val="12A386"/>
                </a:solidFill>
                <a:latin typeface="Aptos" panose="020B0004020202020204" pitchFamily="34" charset="0"/>
              </a:rPr>
              <a:t>tudo em uma única plataforma.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055948-742B-0A5B-A8A1-7AF734107065}"/>
              </a:ext>
            </a:extLst>
          </p:cNvPr>
          <p:cNvSpPr txBox="1"/>
          <p:nvPr/>
        </p:nvSpPr>
        <p:spPr>
          <a:xfrm>
            <a:off x="609600" y="31750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>
                <a:solidFill>
                  <a:srgbClr val="8B7464"/>
                </a:solidFill>
                <a:latin typeface="Aptos" panose="020B0004020202020204" pitchFamily="34" charset="0"/>
              </a:rPr>
              <a:t>Gestão integrada de rotas, frota, financeiro e governança para operações logísticas.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E1EBC85-0D72-40AD-BEA0-A5A3E3C9008A}"/>
              </a:ext>
            </a:extLst>
          </p:cNvPr>
          <p:cNvSpPr/>
          <p:nvPr/>
        </p:nvSpPr>
        <p:spPr>
          <a:xfrm>
            <a:off x="609600" y="4381500"/>
            <a:ext cx="7112000" cy="889000"/>
          </a:xfrm>
          <a:prstGeom prst="roundRect">
            <a:avLst/>
          </a:prstGeom>
          <a:solidFill>
            <a:srgbClr val="0B2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5CA1152-2754-0E3B-A771-642B76FF436E}"/>
              </a:ext>
            </a:extLst>
          </p:cNvPr>
          <p:cNvSpPr txBox="1"/>
          <p:nvPr/>
        </p:nvSpPr>
        <p:spPr>
          <a:xfrm>
            <a:off x="914400" y="4699000"/>
            <a:ext cx="647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 b="1">
                <a:solidFill>
                  <a:srgbClr val="FFFFFF"/>
                </a:solidFill>
                <a:latin typeface="Aptos" panose="020B0004020202020204" pitchFamily="34" charset="0"/>
              </a:rPr>
              <a:t>VISIBILIDADE  •  CONTROLE  •  RASTREABILIDADE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3E469A7-D17E-CC03-B531-DC867BBE7028}"/>
              </a:ext>
            </a:extLst>
          </p:cNvPr>
          <p:cNvSpPr txBox="1"/>
          <p:nvPr/>
        </p:nvSpPr>
        <p:spPr>
          <a:xfrm>
            <a:off x="609600" y="58166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Demonstrativo para futuros clientes</a:t>
            </a:r>
          </a:p>
        </p:txBody>
      </p:sp>
    </p:spTree>
    <p:extLst>
      <p:ext uri="{BB962C8B-B14F-4D97-AF65-F5344CB8AC3E}">
        <p14:creationId xmlns:p14="http://schemas.microsoft.com/office/powerpoint/2010/main" val="286676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45FA16D-3447-8E38-18B4-150B4A6C802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0B488D-975C-DC4F-1832-C149491BB969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D536813-DD44-1535-CBF3-BDD3161518D2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23EB10-2A1A-903D-1B4E-DC1ADE05A6A1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C5740E-E5C4-8D01-3B02-745D1DC842B4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Quando a informação está dispersa, a operação perde velocidade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668D22-9D97-0B5A-1987-FED076145D16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Planilhas, mensagens e sistemas isolados dificultam a visão do todo.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4F1D9DF-202D-2191-2306-9CCE798A3971}"/>
              </a:ext>
            </a:extLst>
          </p:cNvPr>
          <p:cNvSpPr/>
          <p:nvPr/>
        </p:nvSpPr>
        <p:spPr>
          <a:xfrm>
            <a:off x="609600" y="2286000"/>
            <a:ext cx="3302000" cy="279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71F0B4-B7F3-FB99-D38D-1F17D722645C}"/>
              </a:ext>
            </a:extLst>
          </p:cNvPr>
          <p:cNvSpPr/>
          <p:nvPr/>
        </p:nvSpPr>
        <p:spPr>
          <a:xfrm>
            <a:off x="609600" y="2286000"/>
            <a:ext cx="76200" cy="2794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960713-A81E-EA62-FCFC-78A0A77E8CB9}"/>
              </a:ext>
            </a:extLst>
          </p:cNvPr>
          <p:cNvSpPr txBox="1"/>
          <p:nvPr/>
        </p:nvSpPr>
        <p:spPr>
          <a:xfrm>
            <a:off x="863600" y="24892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Baixa visibilidade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28720ED-F8CE-A527-7ED9-03D1A7C5E4A7}"/>
              </a:ext>
            </a:extLst>
          </p:cNvPr>
          <p:cNvSpPr txBox="1"/>
          <p:nvPr/>
        </p:nvSpPr>
        <p:spPr>
          <a:xfrm>
            <a:off x="863600" y="2921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Status de rotas e ocorrências chegam tarde ou dependem de ligações e mensagens.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625FF45-E0F3-A2D9-6C9C-95FFC2D51D5F}"/>
              </a:ext>
            </a:extLst>
          </p:cNvPr>
          <p:cNvSpPr/>
          <p:nvPr/>
        </p:nvSpPr>
        <p:spPr>
          <a:xfrm>
            <a:off x="4445000" y="2286000"/>
            <a:ext cx="3302000" cy="279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54BFDC9-348B-FECC-51BB-82152104CDAF}"/>
              </a:ext>
            </a:extLst>
          </p:cNvPr>
          <p:cNvSpPr/>
          <p:nvPr/>
        </p:nvSpPr>
        <p:spPr>
          <a:xfrm>
            <a:off x="4445000" y="2286000"/>
            <a:ext cx="76200" cy="27940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DB7C93-2AEA-3041-73BA-C0A047AAFF2F}"/>
              </a:ext>
            </a:extLst>
          </p:cNvPr>
          <p:cNvSpPr txBox="1"/>
          <p:nvPr/>
        </p:nvSpPr>
        <p:spPr>
          <a:xfrm>
            <a:off x="4699000" y="24892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Processos manuais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DAF3C23-31F6-C5A5-8892-58F43737F629}"/>
              </a:ext>
            </a:extLst>
          </p:cNvPr>
          <p:cNvSpPr txBox="1"/>
          <p:nvPr/>
        </p:nvSpPr>
        <p:spPr>
          <a:xfrm>
            <a:off x="4699000" y="2921000"/>
            <a:ext cx="2870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Redigitação de documentos, controles paralelos e pouca padronização aumentam retrabalho.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DA8C446-94C4-ABB2-B85D-5AE44D36B90B}"/>
              </a:ext>
            </a:extLst>
          </p:cNvPr>
          <p:cNvSpPr/>
          <p:nvPr/>
        </p:nvSpPr>
        <p:spPr>
          <a:xfrm>
            <a:off x="8280400" y="2286000"/>
            <a:ext cx="3302000" cy="279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CE6239E-604B-2655-77E1-C022D070425E}"/>
              </a:ext>
            </a:extLst>
          </p:cNvPr>
          <p:cNvSpPr/>
          <p:nvPr/>
        </p:nvSpPr>
        <p:spPr>
          <a:xfrm>
            <a:off x="8280400" y="2286000"/>
            <a:ext cx="76200" cy="27940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3807C06-3300-6E21-B06B-3F40453328CA}"/>
              </a:ext>
            </a:extLst>
          </p:cNvPr>
          <p:cNvSpPr txBox="1"/>
          <p:nvPr/>
        </p:nvSpPr>
        <p:spPr>
          <a:xfrm>
            <a:off x="8534400" y="24892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Decisão sem contexto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3BBCBB-3373-6D85-BB6A-5D2C9DC478DE}"/>
              </a:ext>
            </a:extLst>
          </p:cNvPr>
          <p:cNvSpPr txBox="1"/>
          <p:nvPr/>
        </p:nvSpPr>
        <p:spPr>
          <a:xfrm>
            <a:off x="8534400" y="2921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Custos, frota e execução ficam separados, dificultando priorização e análise.</a:t>
            </a:r>
          </a:p>
        </p:txBody>
      </p:sp>
    </p:spTree>
    <p:extLst>
      <p:ext uri="{BB962C8B-B14F-4D97-AF65-F5344CB8AC3E}">
        <p14:creationId xmlns:p14="http://schemas.microsoft.com/office/powerpoint/2010/main" val="429408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49AB310-C62F-4F06-82FD-A11C512A9CE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7D8C21-DFCE-ECD3-0C72-7B11C250F795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2F5966-45E0-0A55-902E-623503348936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A 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8273A9-E3DC-AE8C-90B0-053BEF2B3746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AB932E-745B-9536-4088-2D78961B9632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Uma fonte única de verdade para toda a jornada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300223-9537-079E-0C47-F74C39A56F34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A plataforma conecta pessoas, processos, veículos, documentos e resultados.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B7BC937-827C-65EA-737E-043C1E30566E}"/>
              </a:ext>
            </a:extLst>
          </p:cNvPr>
          <p:cNvSpPr/>
          <p:nvPr/>
        </p:nvSpPr>
        <p:spPr>
          <a:xfrm>
            <a:off x="609600" y="2413000"/>
            <a:ext cx="25146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C572686-0B75-018B-51A2-B9F1DB5B6706}"/>
              </a:ext>
            </a:extLst>
          </p:cNvPr>
          <p:cNvSpPr txBox="1"/>
          <p:nvPr/>
        </p:nvSpPr>
        <p:spPr>
          <a:xfrm>
            <a:off x="838200" y="2641600"/>
            <a:ext cx="50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2A386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D229D1-6DE9-0C83-7575-C0F887C45324}"/>
              </a:ext>
            </a:extLst>
          </p:cNvPr>
          <p:cNvSpPr txBox="1"/>
          <p:nvPr/>
        </p:nvSpPr>
        <p:spPr>
          <a:xfrm>
            <a:off x="838200" y="31750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Planejar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6E701B7-2AEC-8748-6072-744B96DBD832}"/>
              </a:ext>
            </a:extLst>
          </p:cNvPr>
          <p:cNvSpPr txBox="1"/>
          <p:nvPr/>
        </p:nvSpPr>
        <p:spPr>
          <a:xfrm>
            <a:off x="838200" y="3733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Manifesto, OCR e criação da rota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E365756-0A4D-8D11-4210-2D3F9B3BABF9}"/>
              </a:ext>
            </a:extLst>
          </p:cNvPr>
          <p:cNvSpPr/>
          <p:nvPr/>
        </p:nvSpPr>
        <p:spPr>
          <a:xfrm>
            <a:off x="3352800" y="2413000"/>
            <a:ext cx="25146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22B7D1-32A9-FA93-0759-27946AAD05D4}"/>
              </a:ext>
            </a:extLst>
          </p:cNvPr>
          <p:cNvSpPr txBox="1"/>
          <p:nvPr/>
        </p:nvSpPr>
        <p:spPr>
          <a:xfrm>
            <a:off x="3581400" y="2641600"/>
            <a:ext cx="50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2A38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8A2F2F1-A168-006D-F0CF-59ACBFECD214}"/>
              </a:ext>
            </a:extLst>
          </p:cNvPr>
          <p:cNvSpPr txBox="1"/>
          <p:nvPr/>
        </p:nvSpPr>
        <p:spPr>
          <a:xfrm>
            <a:off x="3581400" y="31750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Executar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B604828-38EA-A226-481C-0C608550C2A5}"/>
              </a:ext>
            </a:extLst>
          </p:cNvPr>
          <p:cNvSpPr txBox="1"/>
          <p:nvPr/>
        </p:nvSpPr>
        <p:spPr>
          <a:xfrm>
            <a:off x="3581400" y="3733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Doca, carregamento, paradas e entregas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2D0EE7D-08EF-26A4-40F9-4CEB73D33DD0}"/>
              </a:ext>
            </a:extLst>
          </p:cNvPr>
          <p:cNvSpPr/>
          <p:nvPr/>
        </p:nvSpPr>
        <p:spPr>
          <a:xfrm>
            <a:off x="6096000" y="2413000"/>
            <a:ext cx="25146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4B31014-5232-C68C-FB58-980A9EB9DA7F}"/>
              </a:ext>
            </a:extLst>
          </p:cNvPr>
          <p:cNvSpPr txBox="1"/>
          <p:nvPr/>
        </p:nvSpPr>
        <p:spPr>
          <a:xfrm>
            <a:off x="6324600" y="2641600"/>
            <a:ext cx="50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2A38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DAB8267-BAEE-5C8E-29DA-D00ECD783422}"/>
              </a:ext>
            </a:extLst>
          </p:cNvPr>
          <p:cNvSpPr txBox="1"/>
          <p:nvPr/>
        </p:nvSpPr>
        <p:spPr>
          <a:xfrm>
            <a:off x="6324600" y="31750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Acompanhar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3FE7DEA-326C-DC47-942E-26BBB02D0F61}"/>
              </a:ext>
            </a:extLst>
          </p:cNvPr>
          <p:cNvSpPr txBox="1"/>
          <p:nvPr/>
        </p:nvSpPr>
        <p:spPr>
          <a:xfrm>
            <a:off x="6324600" y="3733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GPS, alertas, ocorrências e tarefas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7402F62-A45C-29D8-CF5E-FB1E9C7B2AF9}"/>
              </a:ext>
            </a:extLst>
          </p:cNvPr>
          <p:cNvSpPr/>
          <p:nvPr/>
        </p:nvSpPr>
        <p:spPr>
          <a:xfrm>
            <a:off x="8839200" y="2413000"/>
            <a:ext cx="25146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AA1EC0D-ADCD-1AAF-8CE5-749BE69233B7}"/>
              </a:ext>
            </a:extLst>
          </p:cNvPr>
          <p:cNvSpPr txBox="1"/>
          <p:nvPr/>
        </p:nvSpPr>
        <p:spPr>
          <a:xfrm>
            <a:off x="9067800" y="2641600"/>
            <a:ext cx="50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2A386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7D82C6E-1488-0D16-3814-CCC5A2A9CD15}"/>
              </a:ext>
            </a:extLst>
          </p:cNvPr>
          <p:cNvSpPr txBox="1"/>
          <p:nvPr/>
        </p:nvSpPr>
        <p:spPr>
          <a:xfrm>
            <a:off x="9067800" y="31750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Controlar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8675AC4-61B5-A6A2-A241-859661938A6D}"/>
              </a:ext>
            </a:extLst>
          </p:cNvPr>
          <p:cNvSpPr txBox="1"/>
          <p:nvPr/>
        </p:nvSpPr>
        <p:spPr>
          <a:xfrm>
            <a:off x="9067800" y="3733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Frota, custos, aprovações e auditoria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8F83AC5-ACDE-33CE-32E2-C7B7702E95F5}"/>
              </a:ext>
            </a:extLst>
          </p:cNvPr>
          <p:cNvSpPr txBox="1"/>
          <p:nvPr/>
        </p:nvSpPr>
        <p:spPr>
          <a:xfrm>
            <a:off x="2133600" y="54610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12A386"/>
                </a:solidFill>
                <a:latin typeface="Aptos" panose="020B0004020202020204" pitchFamily="34" charset="0"/>
              </a:rPr>
              <a:t>PLANEJAR  →  EXECUTAR  →  ACOMPANHAR  →  CONTROLAR</a:t>
            </a:r>
          </a:p>
        </p:txBody>
      </p:sp>
    </p:spTree>
    <p:extLst>
      <p:ext uri="{BB962C8B-B14F-4D97-AF65-F5344CB8AC3E}">
        <p14:creationId xmlns:p14="http://schemas.microsoft.com/office/powerpoint/2010/main" val="164038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279B536-DF6C-F2AB-4981-719196C6362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3A57D0-D607-AC34-338C-148B2BD69908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8061B4-4061-3D48-1E86-ABFF4378C5A2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OPERAÇÃO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61578B-EDA6-8D30-9333-73DF8D4EF626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9D26EB-951F-B739-E462-C04ED851DD17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Do manifesto à rota, com automação e conferência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5E67F0-A162-B62D-1F81-AAC7CCC58B6A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Menos digitação, mais qualidade de dados e controle humano.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67A93D2-65D2-3A82-1CB6-0844C1CFB988}"/>
              </a:ext>
            </a:extLst>
          </p:cNvPr>
          <p:cNvSpPr/>
          <p:nvPr/>
        </p:nvSpPr>
        <p:spPr>
          <a:xfrm>
            <a:off x="609600" y="2286000"/>
            <a:ext cx="3175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DC6F182-1443-8B97-EF74-D603D1CA3537}"/>
              </a:ext>
            </a:extLst>
          </p:cNvPr>
          <p:cNvSpPr/>
          <p:nvPr/>
        </p:nvSpPr>
        <p:spPr>
          <a:xfrm>
            <a:off x="609600" y="2286000"/>
            <a:ext cx="76200" cy="24130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802E6E2-CCDA-31D0-1DC9-0AA9C1BD3F44}"/>
              </a:ext>
            </a:extLst>
          </p:cNvPr>
          <p:cNvSpPr txBox="1"/>
          <p:nvPr/>
        </p:nvSpPr>
        <p:spPr>
          <a:xfrm>
            <a:off x="863600" y="2489200"/>
            <a:ext cx="274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1. Receber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1428E25-2528-D5B8-07F7-F0A8622A88C6}"/>
              </a:ext>
            </a:extLst>
          </p:cNvPr>
          <p:cNvSpPr txBox="1"/>
          <p:nvPr/>
        </p:nvSpPr>
        <p:spPr>
          <a:xfrm>
            <a:off x="863600" y="29210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Upload seguro do manifesto e armazenamento centralizado.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2C8DD02-0B9D-FF70-8AD9-CB2DCCEB2B55}"/>
              </a:ext>
            </a:extLst>
          </p:cNvPr>
          <p:cNvSpPr/>
          <p:nvPr/>
        </p:nvSpPr>
        <p:spPr>
          <a:xfrm>
            <a:off x="4508500" y="2286000"/>
            <a:ext cx="3175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A59828F-EF57-9748-AD42-7EF7D11988B7}"/>
              </a:ext>
            </a:extLst>
          </p:cNvPr>
          <p:cNvSpPr/>
          <p:nvPr/>
        </p:nvSpPr>
        <p:spPr>
          <a:xfrm>
            <a:off x="4508500" y="2286000"/>
            <a:ext cx="76200" cy="24130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376DA6A-F9F2-7F66-ADE6-DBF47D3960E9}"/>
              </a:ext>
            </a:extLst>
          </p:cNvPr>
          <p:cNvSpPr txBox="1"/>
          <p:nvPr/>
        </p:nvSpPr>
        <p:spPr>
          <a:xfrm>
            <a:off x="4762500" y="2489200"/>
            <a:ext cx="274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2. Interpretar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73219D3-69A8-953C-9BB5-54C399989683}"/>
              </a:ext>
            </a:extLst>
          </p:cNvPr>
          <p:cNvSpPr txBox="1"/>
          <p:nvPr/>
        </p:nvSpPr>
        <p:spPr>
          <a:xfrm>
            <a:off x="4762500" y="29210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OCR organiza os dados e sinaliza informações para revisão.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7AE34DC-221B-5002-73E0-87A811ADF551}"/>
              </a:ext>
            </a:extLst>
          </p:cNvPr>
          <p:cNvSpPr/>
          <p:nvPr/>
        </p:nvSpPr>
        <p:spPr>
          <a:xfrm>
            <a:off x="8407400" y="2286000"/>
            <a:ext cx="3175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53B39FA-8354-9ADC-A4A4-D6A3F01B9F5C}"/>
              </a:ext>
            </a:extLst>
          </p:cNvPr>
          <p:cNvSpPr/>
          <p:nvPr/>
        </p:nvSpPr>
        <p:spPr>
          <a:xfrm>
            <a:off x="8407400" y="2286000"/>
            <a:ext cx="76200" cy="2413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566A0ED-D36C-E32D-0643-7294BBA43A64}"/>
              </a:ext>
            </a:extLst>
          </p:cNvPr>
          <p:cNvSpPr txBox="1"/>
          <p:nvPr/>
        </p:nvSpPr>
        <p:spPr>
          <a:xfrm>
            <a:off x="8661400" y="2489200"/>
            <a:ext cx="274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3. Confirmar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FFBF69F-76A6-7ADB-4508-7A4A61937A5A}"/>
              </a:ext>
            </a:extLst>
          </p:cNvPr>
          <p:cNvSpPr txBox="1"/>
          <p:nvPr/>
        </p:nvSpPr>
        <p:spPr>
          <a:xfrm>
            <a:off x="8661400" y="29210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O operador corrige, valida e então gera a rota.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EDB2A2A-4EA9-66D6-A750-496CA69AE44A}"/>
              </a:ext>
            </a:extLst>
          </p:cNvPr>
          <p:cNvSpPr txBox="1"/>
          <p:nvPr/>
        </p:nvSpPr>
        <p:spPr>
          <a:xfrm>
            <a:off x="2667000" y="5334000"/>
            <a:ext cx="685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0B2035"/>
                </a:solidFill>
                <a:latin typeface="Aptos" panose="020B0004020202020204" pitchFamily="34" charset="0"/>
              </a:rPr>
              <a:t>A rota nunca nasce automaticamente sem conferência humana.</a:t>
            </a:r>
          </a:p>
        </p:txBody>
      </p:sp>
    </p:spTree>
    <p:extLst>
      <p:ext uri="{BB962C8B-B14F-4D97-AF65-F5344CB8AC3E}">
        <p14:creationId xmlns:p14="http://schemas.microsoft.com/office/powerpoint/2010/main" val="518212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4A1372C-1B21-FC6A-224D-C76A916B229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8BAD4E-FEBE-92EB-01F9-D3A0E1E597C0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B8A498-D9D8-AFA3-9D82-23EA7CC3547D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OPERAÇÃO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AB65FF-A3D8-265A-68A9-82F1A65B68F3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6EACB2-03EE-50BB-681F-CFDCC712E0E8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Cada etapa da doca vira um indicador confiável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E26329-9CC8-5452-07AE-044B1D30E650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Eventos com data, hora e responsável revelam gargalos operacionais.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39B203C-3728-7F09-72AC-B45E2A83E88B}"/>
              </a:ext>
            </a:extLst>
          </p:cNvPr>
          <p:cNvSpPr/>
          <p:nvPr/>
        </p:nvSpPr>
        <p:spPr>
          <a:xfrm>
            <a:off x="609600" y="2413000"/>
            <a:ext cx="19685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AC2309-7858-1019-A954-B92302F3EEB9}"/>
              </a:ext>
            </a:extLst>
          </p:cNvPr>
          <p:cNvSpPr txBox="1"/>
          <p:nvPr/>
        </p:nvSpPr>
        <p:spPr>
          <a:xfrm>
            <a:off x="762000" y="2717800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0B2035"/>
                </a:solidFill>
                <a:latin typeface="Aptos" panose="020B0004020202020204" pitchFamily="34" charset="0"/>
              </a:rPr>
              <a:t>Chegada ao CD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F521B6-6C5C-6386-6703-88976698BEEC}"/>
              </a:ext>
            </a:extLst>
          </p:cNvPr>
          <p:cNvSpPr txBox="1"/>
          <p:nvPr/>
        </p:nvSpPr>
        <p:spPr>
          <a:xfrm>
            <a:off x="2667000" y="2730500"/>
            <a:ext cx="38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 b="1">
                <a:solidFill>
                  <a:srgbClr val="12A386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71F40CD-670D-3E69-3E17-A538A8758C2B}"/>
              </a:ext>
            </a:extLst>
          </p:cNvPr>
          <p:cNvSpPr/>
          <p:nvPr/>
        </p:nvSpPr>
        <p:spPr>
          <a:xfrm>
            <a:off x="2895600" y="2413000"/>
            <a:ext cx="19685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2D5FE18-5591-D002-6799-610E1E4B33E2}"/>
              </a:ext>
            </a:extLst>
          </p:cNvPr>
          <p:cNvSpPr txBox="1"/>
          <p:nvPr/>
        </p:nvSpPr>
        <p:spPr>
          <a:xfrm>
            <a:off x="3048000" y="2717800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0B2035"/>
                </a:solidFill>
                <a:latin typeface="Aptos" panose="020B0004020202020204" pitchFamily="34" charset="0"/>
              </a:rPr>
              <a:t>Entrada na doca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FB0F00-D0BC-BE7E-9FF3-D5F840ED5ED9}"/>
              </a:ext>
            </a:extLst>
          </p:cNvPr>
          <p:cNvSpPr txBox="1"/>
          <p:nvPr/>
        </p:nvSpPr>
        <p:spPr>
          <a:xfrm>
            <a:off x="4953000" y="2730500"/>
            <a:ext cx="38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 b="1">
                <a:solidFill>
                  <a:srgbClr val="12A386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CE2C776-3414-6936-C116-B3419CADBB6C}"/>
              </a:ext>
            </a:extLst>
          </p:cNvPr>
          <p:cNvSpPr/>
          <p:nvPr/>
        </p:nvSpPr>
        <p:spPr>
          <a:xfrm>
            <a:off x="5181600" y="2413000"/>
            <a:ext cx="19685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61F1D3-224A-F66C-4599-5F3564B7745A}"/>
              </a:ext>
            </a:extLst>
          </p:cNvPr>
          <p:cNvSpPr txBox="1"/>
          <p:nvPr/>
        </p:nvSpPr>
        <p:spPr>
          <a:xfrm>
            <a:off x="5334000" y="2717800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0B2035"/>
                </a:solidFill>
                <a:latin typeface="Aptos" panose="020B0004020202020204" pitchFamily="34" charset="0"/>
              </a:rPr>
              <a:t>Carregamento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707C7DF-97F9-4990-3FF3-AB246DCA6FC7}"/>
              </a:ext>
            </a:extLst>
          </p:cNvPr>
          <p:cNvSpPr txBox="1"/>
          <p:nvPr/>
        </p:nvSpPr>
        <p:spPr>
          <a:xfrm>
            <a:off x="7239000" y="2730500"/>
            <a:ext cx="38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 b="1">
                <a:solidFill>
                  <a:srgbClr val="12A386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03836C3-CC55-B0CA-CF0F-E36576667A43}"/>
              </a:ext>
            </a:extLst>
          </p:cNvPr>
          <p:cNvSpPr/>
          <p:nvPr/>
        </p:nvSpPr>
        <p:spPr>
          <a:xfrm>
            <a:off x="7467600" y="2413000"/>
            <a:ext cx="19685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B918AC-0E3A-9115-BB9E-CA5789736424}"/>
              </a:ext>
            </a:extLst>
          </p:cNvPr>
          <p:cNvSpPr txBox="1"/>
          <p:nvPr/>
        </p:nvSpPr>
        <p:spPr>
          <a:xfrm>
            <a:off x="7620000" y="2717800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0B2035"/>
                </a:solidFill>
                <a:latin typeface="Aptos" panose="020B0004020202020204" pitchFamily="34" charset="0"/>
              </a:rPr>
              <a:t>Liberação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571B239-C11A-B65A-8579-0BC90089FB2D}"/>
              </a:ext>
            </a:extLst>
          </p:cNvPr>
          <p:cNvSpPr txBox="1"/>
          <p:nvPr/>
        </p:nvSpPr>
        <p:spPr>
          <a:xfrm>
            <a:off x="9525000" y="2730500"/>
            <a:ext cx="38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 b="1">
                <a:solidFill>
                  <a:srgbClr val="12A386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5A584D6-673A-2A2C-F344-F115603B6DB0}"/>
              </a:ext>
            </a:extLst>
          </p:cNvPr>
          <p:cNvSpPr/>
          <p:nvPr/>
        </p:nvSpPr>
        <p:spPr>
          <a:xfrm>
            <a:off x="9753600" y="2413000"/>
            <a:ext cx="19685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E5B6B0D-DD28-113E-665F-3C4B7BB0A45C}"/>
              </a:ext>
            </a:extLst>
          </p:cNvPr>
          <p:cNvSpPr txBox="1"/>
          <p:nvPr/>
        </p:nvSpPr>
        <p:spPr>
          <a:xfrm>
            <a:off x="9906000" y="2717800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0B2035"/>
                </a:solidFill>
                <a:latin typeface="Aptos" panose="020B0004020202020204" pitchFamily="34" charset="0"/>
              </a:rPr>
              <a:t>Saída do CD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5ED6B4B-F903-52AC-84CB-6B0FDF62D15F}"/>
              </a:ext>
            </a:extLst>
          </p:cNvPr>
          <p:cNvSpPr/>
          <p:nvPr/>
        </p:nvSpPr>
        <p:spPr>
          <a:xfrm>
            <a:off x="609600" y="4064000"/>
            <a:ext cx="25146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089E067-EDC4-B15C-8CA0-0489429A9445}"/>
              </a:ext>
            </a:extLst>
          </p:cNvPr>
          <p:cNvSpPr/>
          <p:nvPr/>
        </p:nvSpPr>
        <p:spPr>
          <a:xfrm>
            <a:off x="609600" y="4064000"/>
            <a:ext cx="76200" cy="12700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FA568A-FEF9-D8E2-51EE-1980F8473AC1}"/>
              </a:ext>
            </a:extLst>
          </p:cNvPr>
          <p:cNvSpPr txBox="1"/>
          <p:nvPr/>
        </p:nvSpPr>
        <p:spPr>
          <a:xfrm>
            <a:off x="863600" y="4267200"/>
            <a:ext cx="208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Espera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C135BAB-E549-0742-285D-454200C4C641}"/>
              </a:ext>
            </a:extLst>
          </p:cNvPr>
          <p:cNvSpPr txBox="1"/>
          <p:nvPr/>
        </p:nvSpPr>
        <p:spPr>
          <a:xfrm>
            <a:off x="863600" y="46990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Antes da doca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F643F49-9097-23D1-F032-A613158228DB}"/>
              </a:ext>
            </a:extLst>
          </p:cNvPr>
          <p:cNvSpPr/>
          <p:nvPr/>
        </p:nvSpPr>
        <p:spPr>
          <a:xfrm>
            <a:off x="3429000" y="4064000"/>
            <a:ext cx="25146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FBAB4BA-2C67-569D-CDF7-E08FE0A51900}"/>
              </a:ext>
            </a:extLst>
          </p:cNvPr>
          <p:cNvSpPr/>
          <p:nvPr/>
        </p:nvSpPr>
        <p:spPr>
          <a:xfrm>
            <a:off x="3429000" y="4064000"/>
            <a:ext cx="76200" cy="12700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29DF7FB-258A-3152-E9E1-0F437F7B46C6}"/>
              </a:ext>
            </a:extLst>
          </p:cNvPr>
          <p:cNvSpPr txBox="1"/>
          <p:nvPr/>
        </p:nvSpPr>
        <p:spPr>
          <a:xfrm>
            <a:off x="3683000" y="4267200"/>
            <a:ext cx="208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Carga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4A22A61-0790-134E-3FDA-CBD5CDBFD72D}"/>
              </a:ext>
            </a:extLst>
          </p:cNvPr>
          <p:cNvSpPr txBox="1"/>
          <p:nvPr/>
        </p:nvSpPr>
        <p:spPr>
          <a:xfrm>
            <a:off x="3683000" y="46990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Início ao fim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5F209E4-22A8-6FB6-5875-D16191E6FB11}"/>
              </a:ext>
            </a:extLst>
          </p:cNvPr>
          <p:cNvSpPr/>
          <p:nvPr/>
        </p:nvSpPr>
        <p:spPr>
          <a:xfrm>
            <a:off x="6248400" y="4064000"/>
            <a:ext cx="25146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9F01DFB-412C-636D-5BE1-87F49F5CF95B}"/>
              </a:ext>
            </a:extLst>
          </p:cNvPr>
          <p:cNvSpPr/>
          <p:nvPr/>
        </p:nvSpPr>
        <p:spPr>
          <a:xfrm>
            <a:off x="6248400" y="4064000"/>
            <a:ext cx="76200" cy="1270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9F58E34-0B26-CAC3-12A7-0659098DC984}"/>
              </a:ext>
            </a:extLst>
          </p:cNvPr>
          <p:cNvSpPr txBox="1"/>
          <p:nvPr/>
        </p:nvSpPr>
        <p:spPr>
          <a:xfrm>
            <a:off x="6502400" y="4267200"/>
            <a:ext cx="208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Liberação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C5EFA98-0E6F-626F-F921-2CB64BF21007}"/>
              </a:ext>
            </a:extLst>
          </p:cNvPr>
          <p:cNvSpPr txBox="1"/>
          <p:nvPr/>
        </p:nvSpPr>
        <p:spPr>
          <a:xfrm>
            <a:off x="6502400" y="46990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Fim à autorização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572CD31-CF74-A8FC-E778-A268F9F04E0A}"/>
              </a:ext>
            </a:extLst>
          </p:cNvPr>
          <p:cNvSpPr/>
          <p:nvPr/>
        </p:nvSpPr>
        <p:spPr>
          <a:xfrm>
            <a:off x="9067800" y="4064000"/>
            <a:ext cx="25146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F4E283A6-879D-088A-816E-AC687ED491DC}"/>
              </a:ext>
            </a:extLst>
          </p:cNvPr>
          <p:cNvSpPr/>
          <p:nvPr/>
        </p:nvSpPr>
        <p:spPr>
          <a:xfrm>
            <a:off x="9067800" y="4064000"/>
            <a:ext cx="76200" cy="1270000"/>
          </a:xfrm>
          <a:prstGeom prst="rect">
            <a:avLst/>
          </a:prstGeom>
          <a:solidFill>
            <a:srgbClr val="0B2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FE4B34E-E523-6918-B4B7-8B726E9BAC26}"/>
              </a:ext>
            </a:extLst>
          </p:cNvPr>
          <p:cNvSpPr txBox="1"/>
          <p:nvPr/>
        </p:nvSpPr>
        <p:spPr>
          <a:xfrm>
            <a:off x="9321800" y="4267200"/>
            <a:ext cx="208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Total no CD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4C912ED-300C-C927-FAB1-F35C79BFF9C8}"/>
              </a:ext>
            </a:extLst>
          </p:cNvPr>
          <p:cNvSpPr txBox="1"/>
          <p:nvPr/>
        </p:nvSpPr>
        <p:spPr>
          <a:xfrm>
            <a:off x="9321800" y="4699000"/>
            <a:ext cx="208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Chegada à saída</a:t>
            </a:r>
          </a:p>
        </p:txBody>
      </p:sp>
    </p:spTree>
    <p:extLst>
      <p:ext uri="{BB962C8B-B14F-4D97-AF65-F5344CB8AC3E}">
        <p14:creationId xmlns:p14="http://schemas.microsoft.com/office/powerpoint/2010/main" val="109364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B5ED696-34B0-0D9F-8A6A-810EFB1DC54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785B41-FFDE-8F8C-58BC-F30297D328EB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8EDCD4-0B25-EBC0-CAB2-C036FE6A21D3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TORRE DE CONTROLE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D1FED6-E407-2404-4B6D-8BF1F8CC3674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D505E7-A6E3-504C-6199-30FF9890B481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Acompanhar por exceção, agir no momento certo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FF9292-42FC-11D4-9E8A-B83F074170B0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Mapa, status, alertas e histórico em uma visão operacional.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552915D-5984-F249-E55E-29DAAB0E58F6}"/>
              </a:ext>
            </a:extLst>
          </p:cNvPr>
          <p:cNvSpPr/>
          <p:nvPr/>
        </p:nvSpPr>
        <p:spPr>
          <a:xfrm>
            <a:off x="558800" y="2108200"/>
            <a:ext cx="6959600" cy="3962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1E92EC5-7601-16B3-2D4E-30E0083C77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59000"/>
            <a:ext cx="6858000" cy="38608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6FE5F50-6BB1-9A29-DF8E-85EEA499AC1C}"/>
              </a:ext>
            </a:extLst>
          </p:cNvPr>
          <p:cNvSpPr/>
          <p:nvPr/>
        </p:nvSpPr>
        <p:spPr>
          <a:xfrm>
            <a:off x="7874000" y="2159000"/>
            <a:ext cx="37084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193DA9A-E3B9-616E-CD17-84240861F711}"/>
              </a:ext>
            </a:extLst>
          </p:cNvPr>
          <p:cNvSpPr/>
          <p:nvPr/>
        </p:nvSpPr>
        <p:spPr>
          <a:xfrm>
            <a:off x="7874000" y="2159000"/>
            <a:ext cx="76200" cy="10160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853670-E9A9-D7D6-E6D9-E34563730425}"/>
              </a:ext>
            </a:extLst>
          </p:cNvPr>
          <p:cNvSpPr txBox="1"/>
          <p:nvPr/>
        </p:nvSpPr>
        <p:spPr>
          <a:xfrm>
            <a:off x="8128000" y="2362200"/>
            <a:ext cx="327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Rotas em andamento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64C9C8-DF8E-1B05-B5B2-1EF232B8D975}"/>
              </a:ext>
            </a:extLst>
          </p:cNvPr>
          <p:cNvSpPr txBox="1"/>
          <p:nvPr/>
        </p:nvSpPr>
        <p:spPr>
          <a:xfrm>
            <a:off x="8128000" y="2794000"/>
            <a:ext cx="327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Visão consolidada por status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252A31B-FE53-2A2E-2862-DFBE97D34B32}"/>
              </a:ext>
            </a:extLst>
          </p:cNvPr>
          <p:cNvSpPr/>
          <p:nvPr/>
        </p:nvSpPr>
        <p:spPr>
          <a:xfrm>
            <a:off x="7874000" y="3429000"/>
            <a:ext cx="37084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ECA54B3-59C1-F06B-C90A-E3EE8CDB30C7}"/>
              </a:ext>
            </a:extLst>
          </p:cNvPr>
          <p:cNvSpPr/>
          <p:nvPr/>
        </p:nvSpPr>
        <p:spPr>
          <a:xfrm>
            <a:off x="7874000" y="3429000"/>
            <a:ext cx="76200" cy="1016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2591D2D-F437-B5F5-7A6B-53125D1FBB26}"/>
              </a:ext>
            </a:extLst>
          </p:cNvPr>
          <p:cNvSpPr txBox="1"/>
          <p:nvPr/>
        </p:nvSpPr>
        <p:spPr>
          <a:xfrm>
            <a:off x="8128000" y="3632200"/>
            <a:ext cx="327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Ocorrências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D1C0F80-CB92-F893-14D3-7029A4E12216}"/>
              </a:ext>
            </a:extLst>
          </p:cNvPr>
          <p:cNvSpPr txBox="1"/>
          <p:nvPr/>
        </p:nvSpPr>
        <p:spPr>
          <a:xfrm>
            <a:off x="8128000" y="4064000"/>
            <a:ext cx="327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Registro, responsável e tratamento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2F8F578-326F-1AF9-6CAA-E65602F617F0}"/>
              </a:ext>
            </a:extLst>
          </p:cNvPr>
          <p:cNvSpPr/>
          <p:nvPr/>
        </p:nvSpPr>
        <p:spPr>
          <a:xfrm>
            <a:off x="7874000" y="4699000"/>
            <a:ext cx="37084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1DF7C5-635C-0DF8-3A87-BCC6A7FD103D}"/>
              </a:ext>
            </a:extLst>
          </p:cNvPr>
          <p:cNvSpPr/>
          <p:nvPr/>
        </p:nvSpPr>
        <p:spPr>
          <a:xfrm>
            <a:off x="7874000" y="4699000"/>
            <a:ext cx="76200" cy="10160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0ACAD31-751E-04F4-0331-EE022A3DC7E1}"/>
              </a:ext>
            </a:extLst>
          </p:cNvPr>
          <p:cNvSpPr txBox="1"/>
          <p:nvPr/>
        </p:nvSpPr>
        <p:spPr>
          <a:xfrm>
            <a:off x="8128000" y="4902200"/>
            <a:ext cx="327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Notificações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33D5C85-EEF0-3E74-2FED-E7E8F87E25EC}"/>
              </a:ext>
            </a:extLst>
          </p:cNvPr>
          <p:cNvSpPr txBox="1"/>
          <p:nvPr/>
        </p:nvSpPr>
        <p:spPr>
          <a:xfrm>
            <a:off x="8128000" y="5334000"/>
            <a:ext cx="327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Alertas configuráveis para eventos</a:t>
            </a:r>
          </a:p>
        </p:txBody>
      </p:sp>
    </p:spTree>
    <p:extLst>
      <p:ext uri="{BB962C8B-B14F-4D97-AF65-F5344CB8AC3E}">
        <p14:creationId xmlns:p14="http://schemas.microsoft.com/office/powerpoint/2010/main" val="3985565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9B3970-BDE6-AF48-4898-2D9E907138A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A820DD-F316-D8D9-F1DF-C60B848935B2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FE1FFD1-42B7-9BFD-7457-D8CCE02EBBDE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GESTÃO DE FROTA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81D6B9-8CAF-4B68-81AF-C00E17470961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F40F31-6964-959E-5408-19C363C5FA3C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Mais disponibilidade e histórico por ativo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3FC472-37CF-BB74-D818-36A788EF1CED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A manutenção deixa de ser reativa e passa a ser planejada.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C4B5161-EE76-25A6-D268-92499DFC6C91}"/>
              </a:ext>
            </a:extLst>
          </p:cNvPr>
          <p:cNvSpPr/>
          <p:nvPr/>
        </p:nvSpPr>
        <p:spPr>
          <a:xfrm>
            <a:off x="558800" y="2171700"/>
            <a:ext cx="7150100" cy="406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9B85A8B-26FD-935C-8F33-9DD45A605D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22500"/>
            <a:ext cx="7048500" cy="39624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97D588F-AF66-5715-CCE6-7585405E594F}"/>
              </a:ext>
            </a:extLst>
          </p:cNvPr>
          <p:cNvSpPr/>
          <p:nvPr/>
        </p:nvSpPr>
        <p:spPr>
          <a:xfrm>
            <a:off x="8064500" y="2222500"/>
            <a:ext cx="35179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1D63D0C-EF72-3086-5672-A9C886D459AF}"/>
              </a:ext>
            </a:extLst>
          </p:cNvPr>
          <p:cNvSpPr/>
          <p:nvPr/>
        </p:nvSpPr>
        <p:spPr>
          <a:xfrm>
            <a:off x="8064500" y="2222500"/>
            <a:ext cx="76200" cy="11430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C9B9F4-7494-ED46-7DB1-D36D655CD942}"/>
              </a:ext>
            </a:extLst>
          </p:cNvPr>
          <p:cNvSpPr txBox="1"/>
          <p:nvPr/>
        </p:nvSpPr>
        <p:spPr>
          <a:xfrm>
            <a:off x="8318500" y="24257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Checklist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F553836-4361-CD9C-D876-67A6419A5AA6}"/>
              </a:ext>
            </a:extLst>
          </p:cNvPr>
          <p:cNvSpPr txBox="1"/>
          <p:nvPr/>
        </p:nvSpPr>
        <p:spPr>
          <a:xfrm>
            <a:off x="8318500" y="2857500"/>
            <a:ext cx="3086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Inspeções padronizadas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202FE35-1063-639E-0913-01ABB9FD2CD7}"/>
              </a:ext>
            </a:extLst>
          </p:cNvPr>
          <p:cNvSpPr/>
          <p:nvPr/>
        </p:nvSpPr>
        <p:spPr>
          <a:xfrm>
            <a:off x="8064500" y="3556000"/>
            <a:ext cx="35179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D056364-8306-01E6-9F24-79207EAAB3AE}"/>
              </a:ext>
            </a:extLst>
          </p:cNvPr>
          <p:cNvSpPr/>
          <p:nvPr/>
        </p:nvSpPr>
        <p:spPr>
          <a:xfrm>
            <a:off x="8064500" y="3556000"/>
            <a:ext cx="76200" cy="11430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259A4E3-71EE-EFD8-E20D-FC2FE7455A32}"/>
              </a:ext>
            </a:extLst>
          </p:cNvPr>
          <p:cNvSpPr txBox="1"/>
          <p:nvPr/>
        </p:nvSpPr>
        <p:spPr>
          <a:xfrm>
            <a:off x="8318500" y="37592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Manutenção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B3744EE-95DE-23B6-DCE4-AC7E24FDADD8}"/>
              </a:ext>
            </a:extLst>
          </p:cNvPr>
          <p:cNvSpPr txBox="1"/>
          <p:nvPr/>
        </p:nvSpPr>
        <p:spPr>
          <a:xfrm>
            <a:off x="8318500" y="4191000"/>
            <a:ext cx="3086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Ordens, pneus e planos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C816C7B-BBAF-39C4-A872-3F4201020401}"/>
              </a:ext>
            </a:extLst>
          </p:cNvPr>
          <p:cNvSpPr/>
          <p:nvPr/>
        </p:nvSpPr>
        <p:spPr>
          <a:xfrm>
            <a:off x="8064500" y="4889500"/>
            <a:ext cx="35179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E3DD089-BC9B-1148-0719-F56F0CA0AB88}"/>
              </a:ext>
            </a:extLst>
          </p:cNvPr>
          <p:cNvSpPr/>
          <p:nvPr/>
        </p:nvSpPr>
        <p:spPr>
          <a:xfrm>
            <a:off x="8064500" y="4889500"/>
            <a:ext cx="76200" cy="1143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697D069-0ADA-D78A-61A6-371D5543F62B}"/>
              </a:ext>
            </a:extLst>
          </p:cNvPr>
          <p:cNvSpPr txBox="1"/>
          <p:nvPr/>
        </p:nvSpPr>
        <p:spPr>
          <a:xfrm>
            <a:off x="8318500" y="50927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Estoque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23C348-0C49-88DA-CDA2-913DBA694F91}"/>
              </a:ext>
            </a:extLst>
          </p:cNvPr>
          <p:cNvSpPr txBox="1"/>
          <p:nvPr/>
        </p:nvSpPr>
        <p:spPr>
          <a:xfrm>
            <a:off x="8318500" y="5524500"/>
            <a:ext cx="3086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Peças e movimentações</a:t>
            </a:r>
          </a:p>
        </p:txBody>
      </p:sp>
    </p:spTree>
    <p:extLst>
      <p:ext uri="{BB962C8B-B14F-4D97-AF65-F5344CB8AC3E}">
        <p14:creationId xmlns:p14="http://schemas.microsoft.com/office/powerpoint/2010/main" val="354089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F02BE0-4EE2-1B58-2111-65BB3D67AD6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F999C4-F5FB-D785-B0CD-FA564ED550A0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ECE92E-9E7C-C056-C21D-0F3300E9FBD2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FINANCEIRO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CA6BA8-C4E7-71E2-EC05-6EC31A7892DE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8C4D514-2FC5-3419-F387-936EFAF4E8D4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O resultado financeiro conectado ao fato operacional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5B61AF4-1263-F4ED-4213-186FACDB25D4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Controle do lançamento à aprovação e à visão consolidada.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D5D94AC-A708-0AAA-4B9C-1EE6DD8C017B}"/>
              </a:ext>
            </a:extLst>
          </p:cNvPr>
          <p:cNvSpPr/>
          <p:nvPr/>
        </p:nvSpPr>
        <p:spPr>
          <a:xfrm>
            <a:off x="558800" y="2171700"/>
            <a:ext cx="7150100" cy="406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901DDE9-C8FD-AC54-656A-BD6AA567EB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22500"/>
            <a:ext cx="7048500" cy="39624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18B9187-5541-CFCB-B2EA-680FC6F3D458}"/>
              </a:ext>
            </a:extLst>
          </p:cNvPr>
          <p:cNvSpPr/>
          <p:nvPr/>
        </p:nvSpPr>
        <p:spPr>
          <a:xfrm>
            <a:off x="8064500" y="2222500"/>
            <a:ext cx="35179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8D894AC-F402-9B68-FE3D-00F946728471}"/>
              </a:ext>
            </a:extLst>
          </p:cNvPr>
          <p:cNvSpPr/>
          <p:nvPr/>
        </p:nvSpPr>
        <p:spPr>
          <a:xfrm>
            <a:off x="8064500" y="2222500"/>
            <a:ext cx="76200" cy="11430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DA63A-A42A-A143-E939-7A515C15B333}"/>
              </a:ext>
            </a:extLst>
          </p:cNvPr>
          <p:cNvSpPr txBox="1"/>
          <p:nvPr/>
        </p:nvSpPr>
        <p:spPr>
          <a:xfrm>
            <a:off x="8318500" y="24257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Entradas e saídas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1D5450D-2D3A-6175-39E1-BBF6774549BC}"/>
              </a:ext>
            </a:extLst>
          </p:cNvPr>
          <p:cNvSpPr txBox="1"/>
          <p:nvPr/>
        </p:nvSpPr>
        <p:spPr>
          <a:xfrm>
            <a:off x="8318500" y="2857500"/>
            <a:ext cx="3086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Despesas, receitas e contas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4ABB62D-A2CD-7D8F-30BB-C3168190B360}"/>
              </a:ext>
            </a:extLst>
          </p:cNvPr>
          <p:cNvSpPr/>
          <p:nvPr/>
        </p:nvSpPr>
        <p:spPr>
          <a:xfrm>
            <a:off x="8064500" y="3556000"/>
            <a:ext cx="35179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EEBE9F3-119F-FFF5-4529-4F06EF618716}"/>
              </a:ext>
            </a:extLst>
          </p:cNvPr>
          <p:cNvSpPr/>
          <p:nvPr/>
        </p:nvSpPr>
        <p:spPr>
          <a:xfrm>
            <a:off x="8064500" y="3556000"/>
            <a:ext cx="76200" cy="1143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D40385F-C5C3-F2F0-F943-657D236458D4}"/>
              </a:ext>
            </a:extLst>
          </p:cNvPr>
          <p:cNvSpPr txBox="1"/>
          <p:nvPr/>
        </p:nvSpPr>
        <p:spPr>
          <a:xfrm>
            <a:off x="8318500" y="37592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Controle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00BD8BE-AB6C-E3B1-7D9E-AC8B4A5D56B9}"/>
              </a:ext>
            </a:extLst>
          </p:cNvPr>
          <p:cNvSpPr txBox="1"/>
          <p:nvPr/>
        </p:nvSpPr>
        <p:spPr>
          <a:xfrm>
            <a:off x="8318500" y="4191000"/>
            <a:ext cx="3086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Compras, tarefas e aprovações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92F06B1-D0D0-2196-C62B-1DEB0DB3D033}"/>
              </a:ext>
            </a:extLst>
          </p:cNvPr>
          <p:cNvSpPr/>
          <p:nvPr/>
        </p:nvSpPr>
        <p:spPr>
          <a:xfrm>
            <a:off x="8064500" y="4889500"/>
            <a:ext cx="35179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4191EBD-88D0-57EA-8031-19231B680F37}"/>
              </a:ext>
            </a:extLst>
          </p:cNvPr>
          <p:cNvSpPr/>
          <p:nvPr/>
        </p:nvSpPr>
        <p:spPr>
          <a:xfrm>
            <a:off x="8064500" y="4889500"/>
            <a:ext cx="76200" cy="11430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08C7891-26A0-A36B-FAF4-91B291BF4C75}"/>
              </a:ext>
            </a:extLst>
          </p:cNvPr>
          <p:cNvSpPr txBox="1"/>
          <p:nvPr/>
        </p:nvSpPr>
        <p:spPr>
          <a:xfrm>
            <a:off x="8318500" y="50927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Gestão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C5CC0AF-CFDD-1557-E109-D19E2EFDE76D}"/>
              </a:ext>
            </a:extLst>
          </p:cNvPr>
          <p:cNvSpPr txBox="1"/>
          <p:nvPr/>
        </p:nvSpPr>
        <p:spPr>
          <a:xfrm>
            <a:off x="8318500" y="5524500"/>
            <a:ext cx="3086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Balancete, memória e extrato</a:t>
            </a:r>
          </a:p>
        </p:txBody>
      </p:sp>
    </p:spTree>
    <p:extLst>
      <p:ext uri="{BB962C8B-B14F-4D97-AF65-F5344CB8AC3E}">
        <p14:creationId xmlns:p14="http://schemas.microsoft.com/office/powerpoint/2010/main" val="1612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19B6A8-7069-F21B-B93B-90254ECB3A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44CEB2-E102-F93F-B9A5-61657264C114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18F7C7-3424-4C5F-F5AC-759A4244FAC1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GOVERNANÇA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52C963-1700-47B0-0CB1-B3B7C39E2A86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37F29E4-ADF6-0CFB-146C-B803E38957C9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Controle de acesso e evidência em cada 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6931AA-9D01-E995-1E1E-BE65902B3DB5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Segurança aplicada ao dia a dia da operação.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CEACB04-CE74-DF76-D8C0-F992CCBCEC5F}"/>
              </a:ext>
            </a:extLst>
          </p:cNvPr>
          <p:cNvSpPr/>
          <p:nvPr/>
        </p:nvSpPr>
        <p:spPr>
          <a:xfrm>
            <a:off x="558800" y="2235200"/>
            <a:ext cx="7150100" cy="406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6D5B5FA-358F-7548-BCDB-FFF9F6EF31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0"/>
            <a:ext cx="7048500" cy="39624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0737A93-1848-8A28-C27F-7607064CEF69}"/>
              </a:ext>
            </a:extLst>
          </p:cNvPr>
          <p:cNvSpPr/>
          <p:nvPr/>
        </p:nvSpPr>
        <p:spPr>
          <a:xfrm>
            <a:off x="8064500" y="2286000"/>
            <a:ext cx="35179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3D19BD6-DC3E-1499-45E5-00130BB9B9C6}"/>
              </a:ext>
            </a:extLst>
          </p:cNvPr>
          <p:cNvSpPr/>
          <p:nvPr/>
        </p:nvSpPr>
        <p:spPr>
          <a:xfrm>
            <a:off x="8064500" y="2286000"/>
            <a:ext cx="76200" cy="15875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BA3429A-761A-3F6B-C622-0E5B94987C5F}"/>
              </a:ext>
            </a:extLst>
          </p:cNvPr>
          <p:cNvSpPr txBox="1"/>
          <p:nvPr/>
        </p:nvSpPr>
        <p:spPr>
          <a:xfrm>
            <a:off x="8318500" y="24892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Perfis e permissões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5F5BDB-10C8-16BD-52F3-EE6EEBC8E332}"/>
              </a:ext>
            </a:extLst>
          </p:cNvPr>
          <p:cNvSpPr txBox="1"/>
          <p:nvPr/>
        </p:nvSpPr>
        <p:spPr>
          <a:xfrm>
            <a:off x="8318500" y="2921000"/>
            <a:ext cx="3086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Acesso coerente ao papel de cada pessoa.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EF87602-D0C5-A1EA-EB1A-D171AA3031F8}"/>
              </a:ext>
            </a:extLst>
          </p:cNvPr>
          <p:cNvSpPr/>
          <p:nvPr/>
        </p:nvSpPr>
        <p:spPr>
          <a:xfrm>
            <a:off x="8064500" y="4127500"/>
            <a:ext cx="35179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120EDCD-B65E-DCD7-0B3D-2FF0A3B7FC0D}"/>
              </a:ext>
            </a:extLst>
          </p:cNvPr>
          <p:cNvSpPr/>
          <p:nvPr/>
        </p:nvSpPr>
        <p:spPr>
          <a:xfrm>
            <a:off x="8064500" y="4127500"/>
            <a:ext cx="76200" cy="1905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DF9C80-DD76-EE86-EBB4-7396225BC17F}"/>
              </a:ext>
            </a:extLst>
          </p:cNvPr>
          <p:cNvSpPr txBox="1"/>
          <p:nvPr/>
        </p:nvSpPr>
        <p:spPr>
          <a:xfrm>
            <a:off x="8318500" y="4330700"/>
            <a:ext cx="3086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Proteção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F321C17-8FF6-53F0-2043-9EACBEF79A4B}"/>
              </a:ext>
            </a:extLst>
          </p:cNvPr>
          <p:cNvSpPr txBox="1"/>
          <p:nvPr/>
        </p:nvSpPr>
        <p:spPr>
          <a:xfrm>
            <a:off x="8318500" y="4762500"/>
            <a:ext cx="3086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Autenticação, isolamento, backup e histórico de ações.</a:t>
            </a:r>
          </a:p>
        </p:txBody>
      </p:sp>
    </p:spTree>
    <p:extLst>
      <p:ext uri="{BB962C8B-B14F-4D97-AF65-F5344CB8AC3E}">
        <p14:creationId xmlns:p14="http://schemas.microsoft.com/office/powerpoint/2010/main" val="4168764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F6F86A0-16E5-E602-946E-3EECBC57B86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D67AAF-EED3-A876-F200-5ECF8B65026E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BA7B89-1CD4-B043-4EF5-59DB61B413AD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EXPERIÊNCIA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A85B0F-9C41-5916-B673-179A9DFA0556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74EFEE-A74A-B230-9AD7-E7258F3C3140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Uma plataforma que assume a identidade do cliente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4BAE3E-137B-166C-67EB-802405F63A33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Configuração para diferentes empresas, filiais e perfis de uso.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435F419-79DF-2F9E-3056-303A576986E0}"/>
              </a:ext>
            </a:extLst>
          </p:cNvPr>
          <p:cNvSpPr/>
          <p:nvPr/>
        </p:nvSpPr>
        <p:spPr>
          <a:xfrm>
            <a:off x="609600" y="2222500"/>
            <a:ext cx="5207000" cy="3175000"/>
          </a:xfrm>
          <a:prstGeom prst="roundRect">
            <a:avLst/>
          </a:prstGeom>
          <a:solidFill>
            <a:srgbClr val="0B2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58D27D-54FD-4B9F-C175-590BBDBB2AD7}"/>
              </a:ext>
            </a:extLst>
          </p:cNvPr>
          <p:cNvSpPr txBox="1"/>
          <p:nvPr/>
        </p:nvSpPr>
        <p:spPr>
          <a:xfrm>
            <a:off x="1143000" y="2794000"/>
            <a:ext cx="406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Aptos" panose="020B0004020202020204" pitchFamily="34" charset="0"/>
              </a:rPr>
              <a:t>SUA MARCA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BAD5F6-8952-D0E9-7717-E92A77B0FEF3}"/>
              </a:ext>
            </a:extLst>
          </p:cNvPr>
          <p:cNvSpPr txBox="1"/>
          <p:nvPr/>
        </p:nvSpPr>
        <p:spPr>
          <a:xfrm>
            <a:off x="1143000" y="3556000"/>
            <a:ext cx="406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FFFFFF"/>
                </a:solidFill>
                <a:latin typeface="Aptos" panose="020B0004020202020204" pitchFamily="34" charset="0"/>
              </a:rPr>
              <a:t>Nome • cores • imagens • favicon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AAE17A4-EF39-9AD1-E53A-0EF32F37B941}"/>
              </a:ext>
            </a:extLst>
          </p:cNvPr>
          <p:cNvSpPr txBox="1"/>
          <p:nvPr/>
        </p:nvSpPr>
        <p:spPr>
          <a:xfrm>
            <a:off x="1143000" y="4254500"/>
            <a:ext cx="381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FFFFFF"/>
                </a:solidFill>
                <a:latin typeface="Aptos" panose="020B0004020202020204" pitchFamily="34" charset="0"/>
              </a:rPr>
              <a:t>Português do Brasil e de Portugal
Tema claro e escuro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A791651-DACA-1181-76A0-6A8454FDE7D2}"/>
              </a:ext>
            </a:extLst>
          </p:cNvPr>
          <p:cNvSpPr/>
          <p:nvPr/>
        </p:nvSpPr>
        <p:spPr>
          <a:xfrm>
            <a:off x="6350000" y="2222500"/>
            <a:ext cx="5232400" cy="1333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20C7B66-E279-E13F-73DE-D761CB22EE48}"/>
              </a:ext>
            </a:extLst>
          </p:cNvPr>
          <p:cNvSpPr/>
          <p:nvPr/>
        </p:nvSpPr>
        <p:spPr>
          <a:xfrm>
            <a:off x="6350000" y="2222500"/>
            <a:ext cx="76200" cy="13335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698BA4-8076-8631-4D88-9D7C3A1A32D4}"/>
              </a:ext>
            </a:extLst>
          </p:cNvPr>
          <p:cNvSpPr txBox="1"/>
          <p:nvPr/>
        </p:nvSpPr>
        <p:spPr>
          <a:xfrm>
            <a:off x="6604000" y="2425700"/>
            <a:ext cx="480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Recursos por contexto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B174138-2049-2D63-202C-F3248BA4410D}"/>
              </a:ext>
            </a:extLst>
          </p:cNvPr>
          <p:cNvSpPr txBox="1"/>
          <p:nvPr/>
        </p:nvSpPr>
        <p:spPr>
          <a:xfrm>
            <a:off x="6604000" y="2857500"/>
            <a:ext cx="480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Módulos podem ser habilitados conforme a necessidade da operação.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7E2466-7FA2-0C3C-92EF-99346A30EE3A}"/>
              </a:ext>
            </a:extLst>
          </p:cNvPr>
          <p:cNvSpPr/>
          <p:nvPr/>
        </p:nvSpPr>
        <p:spPr>
          <a:xfrm>
            <a:off x="6350000" y="3810000"/>
            <a:ext cx="52324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B95103F-604B-5287-54B9-950ACD2B5906}"/>
              </a:ext>
            </a:extLst>
          </p:cNvPr>
          <p:cNvSpPr/>
          <p:nvPr/>
        </p:nvSpPr>
        <p:spPr>
          <a:xfrm>
            <a:off x="6350000" y="3810000"/>
            <a:ext cx="76200" cy="15875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939253C-3BC4-1834-6D2A-21E950F28179}"/>
              </a:ext>
            </a:extLst>
          </p:cNvPr>
          <p:cNvSpPr txBox="1"/>
          <p:nvPr/>
        </p:nvSpPr>
        <p:spPr>
          <a:xfrm>
            <a:off x="6604000" y="4013200"/>
            <a:ext cx="480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Preparada para crescer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ABE8243-DAE3-2381-429D-EC007E5283CE}"/>
              </a:ext>
            </a:extLst>
          </p:cNvPr>
          <p:cNvSpPr txBox="1"/>
          <p:nvPr/>
        </p:nvSpPr>
        <p:spPr>
          <a:xfrm>
            <a:off x="6604000" y="4445000"/>
            <a:ext cx="480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Arquitetura API-first e estrutura para múltiplas empresas e filiais.</a:t>
            </a:r>
          </a:p>
        </p:txBody>
      </p:sp>
    </p:spTree>
    <p:extLst>
      <p:ext uri="{BB962C8B-B14F-4D97-AF65-F5344CB8AC3E}">
        <p14:creationId xmlns:p14="http://schemas.microsoft.com/office/powerpoint/2010/main" val="231439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07D5A0-654B-5B37-E326-419D1EB027C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FB70E1-B422-3163-92DE-B95E9F4687D5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3E9BD9-A84D-9876-4E41-D26D2BAB8FFF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VALOR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DEBEDD-DED5-E5F2-DBA8-85945BB3E71E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A4CCCA-C8C6-B5F4-C0AF-357087F64C58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Resultados que a implantação deve perseguir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C89B93-282A-6B60-AAA7-B4F72C3F72FE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Os indicadores finais são definidos no diagnóstico e medidos no piloto.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88A1EB0-2813-CCF3-5F2F-AD267596F4A7}"/>
              </a:ext>
            </a:extLst>
          </p:cNvPr>
          <p:cNvSpPr/>
          <p:nvPr/>
        </p:nvSpPr>
        <p:spPr>
          <a:xfrm>
            <a:off x="609600" y="2286000"/>
            <a:ext cx="33020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C04FD0-3AA4-63C2-9416-59EAED44B4D4}"/>
              </a:ext>
            </a:extLst>
          </p:cNvPr>
          <p:cNvSpPr/>
          <p:nvPr/>
        </p:nvSpPr>
        <p:spPr>
          <a:xfrm>
            <a:off x="609600" y="2286000"/>
            <a:ext cx="76200" cy="25400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5C0194-B1FE-3756-96D1-9BB5D3C6281D}"/>
              </a:ext>
            </a:extLst>
          </p:cNvPr>
          <p:cNvSpPr txBox="1"/>
          <p:nvPr/>
        </p:nvSpPr>
        <p:spPr>
          <a:xfrm>
            <a:off x="863600" y="24892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Agilidade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78CB1D-C583-ECD1-77B3-298778BAB5A5}"/>
              </a:ext>
            </a:extLst>
          </p:cNvPr>
          <p:cNvSpPr txBox="1"/>
          <p:nvPr/>
        </p:nvSpPr>
        <p:spPr>
          <a:xfrm>
            <a:off x="863600" y="2921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Reduzir redigitação, procura por informação e tempo de resposta a desvios.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4410137-AE18-5FDB-89E4-F4B0700BCC16}"/>
              </a:ext>
            </a:extLst>
          </p:cNvPr>
          <p:cNvSpPr/>
          <p:nvPr/>
        </p:nvSpPr>
        <p:spPr>
          <a:xfrm>
            <a:off x="4445000" y="2286000"/>
            <a:ext cx="33020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5F6D4D7-C7DC-2C38-61DA-3CE09E6BA0BE}"/>
              </a:ext>
            </a:extLst>
          </p:cNvPr>
          <p:cNvSpPr/>
          <p:nvPr/>
        </p:nvSpPr>
        <p:spPr>
          <a:xfrm>
            <a:off x="4445000" y="2286000"/>
            <a:ext cx="76200" cy="2540000"/>
          </a:xfrm>
          <a:prstGeom prst="rect">
            <a:avLst/>
          </a:prstGeom>
          <a:solidFill>
            <a:srgbClr val="2F9B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454052-433A-870C-A6DB-4A271E35459B}"/>
              </a:ext>
            </a:extLst>
          </p:cNvPr>
          <p:cNvSpPr txBox="1"/>
          <p:nvPr/>
        </p:nvSpPr>
        <p:spPr>
          <a:xfrm>
            <a:off x="4699000" y="24892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Previsibilidade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76B2FAC-0C87-D497-F715-37E6CA055DC6}"/>
              </a:ext>
            </a:extLst>
          </p:cNvPr>
          <p:cNvSpPr txBox="1"/>
          <p:nvPr/>
        </p:nvSpPr>
        <p:spPr>
          <a:xfrm>
            <a:off x="4699000" y="2921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Conhecer gargalos, custos, disponibilidade da frota e situação das rotas.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F6FB291-7289-B35E-6FD5-046D9A34CFA7}"/>
              </a:ext>
            </a:extLst>
          </p:cNvPr>
          <p:cNvSpPr/>
          <p:nvPr/>
        </p:nvSpPr>
        <p:spPr>
          <a:xfrm>
            <a:off x="8280400" y="2286000"/>
            <a:ext cx="33020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7EB468B-7E48-2D86-355A-9A8424D18EC9}"/>
              </a:ext>
            </a:extLst>
          </p:cNvPr>
          <p:cNvSpPr/>
          <p:nvPr/>
        </p:nvSpPr>
        <p:spPr>
          <a:xfrm>
            <a:off x="8280400" y="2286000"/>
            <a:ext cx="76200" cy="2540000"/>
          </a:xfrm>
          <a:prstGeom prst="rect">
            <a:avLst/>
          </a:prstGeom>
          <a:solidFill>
            <a:srgbClr val="EF6A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80422CC-BA89-DA9D-C59F-3A2E8F580624}"/>
              </a:ext>
            </a:extLst>
          </p:cNvPr>
          <p:cNvSpPr txBox="1"/>
          <p:nvPr/>
        </p:nvSpPr>
        <p:spPr>
          <a:xfrm>
            <a:off x="8534400" y="24892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0B2035"/>
                </a:solidFill>
                <a:latin typeface="Aptos" panose="020B0004020202020204" pitchFamily="34" charset="0"/>
              </a:rPr>
              <a:t>Confiabilidade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BE80BD-8020-7830-4473-8789CAC8D579}"/>
              </a:ext>
            </a:extLst>
          </p:cNvPr>
          <p:cNvSpPr txBox="1"/>
          <p:nvPr/>
        </p:nvSpPr>
        <p:spPr>
          <a:xfrm>
            <a:off x="8534400" y="2921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Padronizar processos, controlar acessos e preservar evidências.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65CF7A7-8D86-94F6-A05C-E4F7F3E72DFE}"/>
              </a:ext>
            </a:extLst>
          </p:cNvPr>
          <p:cNvSpPr txBox="1"/>
          <p:nvPr/>
        </p:nvSpPr>
        <p:spPr>
          <a:xfrm>
            <a:off x="2222500" y="5461000"/>
            <a:ext cx="774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 b="1">
                <a:solidFill>
                  <a:srgbClr val="0B2035"/>
                </a:solidFill>
                <a:latin typeface="Aptos" panose="020B0004020202020204" pitchFamily="34" charset="0"/>
              </a:rPr>
              <a:t>Sem números genéricos: metas são estabelecidas com a realidade de cada cliente.</a:t>
            </a:r>
          </a:p>
        </p:txBody>
      </p:sp>
    </p:spTree>
    <p:extLst>
      <p:ext uri="{BB962C8B-B14F-4D97-AF65-F5344CB8AC3E}">
        <p14:creationId xmlns:p14="http://schemas.microsoft.com/office/powerpoint/2010/main" val="2302389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5D05128-0D2C-B476-307D-FFE746DD818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C98138-D82C-FD8F-5356-EB90ACD0479B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076893-2C7C-AC4E-C3AB-CDFF8853DB99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IMPLANTAÇÃO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E2F375-C7CD-58A5-921C-EEA67CEF46BE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723D67-EC8D-A2FE-19CB-86DB8B983AC1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Começar pequeno, validar valor e escalar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B6D65B-01D2-52F9-752F-3BA9C1672076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Uma jornada orientada por processo, adoção e resultado.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0291C6D-7AD5-ED0B-5415-F1C72BA341AA}"/>
              </a:ext>
            </a:extLst>
          </p:cNvPr>
          <p:cNvSpPr/>
          <p:nvPr/>
        </p:nvSpPr>
        <p:spPr>
          <a:xfrm>
            <a:off x="609600" y="2286000"/>
            <a:ext cx="2514600" cy="285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870369-C696-D8A0-F55F-1592F2E31F38}"/>
              </a:ext>
            </a:extLst>
          </p:cNvPr>
          <p:cNvSpPr txBox="1"/>
          <p:nvPr/>
        </p:nvSpPr>
        <p:spPr>
          <a:xfrm>
            <a:off x="838200" y="2540000"/>
            <a:ext cx="57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2A386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7224EC-67F9-9E77-6AED-297F57479087}"/>
              </a:ext>
            </a:extLst>
          </p:cNvPr>
          <p:cNvSpPr txBox="1"/>
          <p:nvPr/>
        </p:nvSpPr>
        <p:spPr>
          <a:xfrm>
            <a:off x="838200" y="31496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Diagnóstico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B03F73A-5BDB-C327-4529-10859785EE1F}"/>
              </a:ext>
            </a:extLst>
          </p:cNvPr>
          <p:cNvSpPr txBox="1"/>
          <p:nvPr/>
        </p:nvSpPr>
        <p:spPr>
          <a:xfrm>
            <a:off x="838200" y="3810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Processos, integrações e indicadores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3F68A9D-A18B-37BE-3899-B93AC837DF45}"/>
              </a:ext>
            </a:extLst>
          </p:cNvPr>
          <p:cNvSpPr/>
          <p:nvPr/>
        </p:nvSpPr>
        <p:spPr>
          <a:xfrm>
            <a:off x="3352800" y="2286000"/>
            <a:ext cx="2514600" cy="285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EBAD55-789B-B053-8B90-396D1CF4D295}"/>
              </a:ext>
            </a:extLst>
          </p:cNvPr>
          <p:cNvSpPr txBox="1"/>
          <p:nvPr/>
        </p:nvSpPr>
        <p:spPr>
          <a:xfrm>
            <a:off x="3581400" y="2540000"/>
            <a:ext cx="57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2A38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D5A493-D1F9-275A-3394-144B86F661BE}"/>
              </a:ext>
            </a:extLst>
          </p:cNvPr>
          <p:cNvSpPr txBox="1"/>
          <p:nvPr/>
        </p:nvSpPr>
        <p:spPr>
          <a:xfrm>
            <a:off x="3581400" y="31496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Piloto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88583EF-E6F8-E3B4-024A-204F2851D8B0}"/>
              </a:ext>
            </a:extLst>
          </p:cNvPr>
          <p:cNvSpPr txBox="1"/>
          <p:nvPr/>
        </p:nvSpPr>
        <p:spPr>
          <a:xfrm>
            <a:off x="3581400" y="3810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Escopo controlado e dados de teste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274FAD9-2BDC-68A1-A1C0-907B006FED2A}"/>
              </a:ext>
            </a:extLst>
          </p:cNvPr>
          <p:cNvSpPr/>
          <p:nvPr/>
        </p:nvSpPr>
        <p:spPr>
          <a:xfrm>
            <a:off x="6096000" y="2286000"/>
            <a:ext cx="2514600" cy="285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D3EB3A2-89D0-D783-7F20-2206778CC8D3}"/>
              </a:ext>
            </a:extLst>
          </p:cNvPr>
          <p:cNvSpPr txBox="1"/>
          <p:nvPr/>
        </p:nvSpPr>
        <p:spPr>
          <a:xfrm>
            <a:off x="6324600" y="2540000"/>
            <a:ext cx="57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2A38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5190D8D-C3D6-E3DF-FF0E-9FE3E92CDF91}"/>
              </a:ext>
            </a:extLst>
          </p:cNvPr>
          <p:cNvSpPr txBox="1"/>
          <p:nvPr/>
        </p:nvSpPr>
        <p:spPr>
          <a:xfrm>
            <a:off x="6324600" y="31496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Configuração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3073BC-1522-1B71-008C-8FA3E09D9232}"/>
              </a:ext>
            </a:extLst>
          </p:cNvPr>
          <p:cNvSpPr txBox="1"/>
          <p:nvPr/>
        </p:nvSpPr>
        <p:spPr>
          <a:xfrm>
            <a:off x="6324600" y="3810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Perfis, cadastros, regras e identidade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96A67EE-AF7B-6AE8-77A2-45B12C852282}"/>
              </a:ext>
            </a:extLst>
          </p:cNvPr>
          <p:cNvSpPr/>
          <p:nvPr/>
        </p:nvSpPr>
        <p:spPr>
          <a:xfrm>
            <a:off x="8839200" y="2286000"/>
            <a:ext cx="2514600" cy="285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8B3A8AC-A16C-51FD-4CFC-0CBC943CFB85}"/>
              </a:ext>
            </a:extLst>
          </p:cNvPr>
          <p:cNvSpPr txBox="1"/>
          <p:nvPr/>
        </p:nvSpPr>
        <p:spPr>
          <a:xfrm>
            <a:off x="9067800" y="2540000"/>
            <a:ext cx="57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2A386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4EDF490-A0CB-98B4-03E4-5B98EBB3304F}"/>
              </a:ext>
            </a:extLst>
          </p:cNvPr>
          <p:cNvSpPr txBox="1"/>
          <p:nvPr/>
        </p:nvSpPr>
        <p:spPr>
          <a:xfrm>
            <a:off x="9067800" y="31496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0B2035"/>
                </a:solidFill>
                <a:latin typeface="Aptos" panose="020B0004020202020204" pitchFamily="34" charset="0"/>
              </a:rPr>
              <a:t>Adoção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61A004F-55D7-30FD-8B64-AC857235370B}"/>
              </a:ext>
            </a:extLst>
          </p:cNvPr>
          <p:cNvSpPr txBox="1"/>
          <p:nvPr/>
        </p:nvSpPr>
        <p:spPr>
          <a:xfrm>
            <a:off x="9067800" y="3810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8B7464"/>
                </a:solidFill>
                <a:latin typeface="Aptos" panose="020B0004020202020204" pitchFamily="34" charset="0"/>
              </a:rPr>
              <a:t>Treinamento, acompanhamento e expansão</a:t>
            </a:r>
          </a:p>
        </p:txBody>
      </p:sp>
    </p:spTree>
    <p:extLst>
      <p:ext uri="{BB962C8B-B14F-4D97-AF65-F5344CB8AC3E}">
        <p14:creationId xmlns:p14="http://schemas.microsoft.com/office/powerpoint/2010/main" val="3492530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58B9DD-2FCF-807A-B36D-7DCAD676B52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95420B-6CDB-CCFE-F0DD-C860FC62003F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9B844B-4689-7F6C-DD2A-4F1A90480FA7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DEMONSTRAÇÃO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7510D0-77C3-9D36-0FBC-42DB31B88943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81297D4-A41B-A378-3A3F-123F1B3B6FE3}"/>
              </a:ext>
            </a:extLst>
          </p:cNvPr>
          <p:cNvSpPr txBox="1"/>
          <p:nvPr/>
        </p:nvSpPr>
        <p:spPr>
          <a:xfrm>
            <a:off x="609600" y="787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B2035"/>
                </a:solidFill>
                <a:latin typeface="Aptos" panose="020B0004020202020204" pitchFamily="34" charset="0"/>
              </a:rPr>
              <a:t>O que você verá agora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43F4AE-923D-53D0-6910-AA9A29A03945}"/>
              </a:ext>
            </a:extLst>
          </p:cNvPr>
          <p:cNvSpPr txBox="1"/>
          <p:nvPr/>
        </p:nvSpPr>
        <p:spPr>
          <a:xfrm>
            <a:off x="609600" y="1473200"/>
            <a:ext cx="1079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8B7464"/>
                </a:solidFill>
                <a:latin typeface="Aptos" panose="020B0004020202020204" pitchFamily="34" charset="0"/>
              </a:rPr>
              <a:t>Um cenário único, percorrendo o ciclo completo.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D0F9E3E-0B2E-6789-9572-A19097FA36DF}"/>
              </a:ext>
            </a:extLst>
          </p:cNvPr>
          <p:cNvSpPr/>
          <p:nvPr/>
        </p:nvSpPr>
        <p:spPr>
          <a:xfrm>
            <a:off x="558800" y="2108200"/>
            <a:ext cx="5435600" cy="3098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DFDD6D3-F68D-7DD6-4DEA-3FBC56050C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59000"/>
            <a:ext cx="5334000" cy="29972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9555B31-4C69-12D6-5B5E-AB21E28012B1}"/>
              </a:ext>
            </a:extLst>
          </p:cNvPr>
          <p:cNvSpPr/>
          <p:nvPr/>
        </p:nvSpPr>
        <p:spPr>
          <a:xfrm>
            <a:off x="6197600" y="2108200"/>
            <a:ext cx="5435600" cy="3098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38B8951-2273-1A7D-29B7-2B87D59B0DB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159000"/>
            <a:ext cx="5334000" cy="29972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EB055A-63A3-C0FB-8A90-25936AAD4BF2}"/>
              </a:ext>
            </a:extLst>
          </p:cNvPr>
          <p:cNvSpPr txBox="1"/>
          <p:nvPr/>
        </p:nvSpPr>
        <p:spPr>
          <a:xfrm>
            <a:off x="2413000" y="5588000"/>
            <a:ext cx="736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2A386"/>
                </a:solidFill>
                <a:latin typeface="Aptos" panose="020B0004020202020204" pitchFamily="34" charset="0"/>
              </a:rPr>
              <a:t>Manifesto → rota e doca → entrega → resultado</a:t>
            </a:r>
          </a:p>
        </p:txBody>
      </p:sp>
    </p:spTree>
    <p:extLst>
      <p:ext uri="{BB962C8B-B14F-4D97-AF65-F5344CB8AC3E}">
        <p14:creationId xmlns:p14="http://schemas.microsoft.com/office/powerpoint/2010/main" val="3025134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629C4D-D44C-E0B9-204A-1B4A2C28E5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2A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EA20E0-4A85-740E-3C48-5B827D84EB38}"/>
              </a:ext>
            </a:extLst>
          </p:cNvPr>
          <p:cNvSpPr txBox="1"/>
          <p:nvPr/>
        </p:nvSpPr>
        <p:spPr>
          <a:xfrm>
            <a:off x="609600" y="304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12A386"/>
                </a:solidFill>
                <a:latin typeface="Aptos" panose="020B0004020202020204" pitchFamily="34" charset="0"/>
              </a:rPr>
              <a:t>ROTAS BRASIL RSM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1ADF4A-487B-F021-827A-9FFE8B327F3C}"/>
              </a:ext>
            </a:extLst>
          </p:cNvPr>
          <p:cNvSpPr txBox="1"/>
          <p:nvPr/>
        </p:nvSpPr>
        <p:spPr>
          <a:xfrm>
            <a:off x="9144000" y="3048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8B7464"/>
                </a:solidFill>
                <a:latin typeface="Aptos" panose="020B0004020202020204" pitchFamily="34" charset="0"/>
              </a:rPr>
              <a:t>PRÓXIMO PASSO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8278B2-CB6A-8114-9C38-401B10BD5E4C}"/>
              </a:ext>
            </a:extLst>
          </p:cNvPr>
          <p:cNvSpPr txBox="1"/>
          <p:nvPr/>
        </p:nvSpPr>
        <p:spPr>
          <a:xfrm>
            <a:off x="11176000" y="6477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464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D3FB82-D584-B06D-9274-47B8C038D2A2}"/>
              </a:ext>
            </a:extLst>
          </p:cNvPr>
          <p:cNvSpPr txBox="1"/>
          <p:nvPr/>
        </p:nvSpPr>
        <p:spPr>
          <a:xfrm>
            <a:off x="609600" y="1651000"/>
            <a:ext cx="1016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0B2035"/>
                </a:solidFill>
                <a:latin typeface="Aptos" panose="020B0004020202020204" pitchFamily="34" charset="0"/>
              </a:rPr>
              <a:t>Vamos transformar o seu processo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F564841-875C-03E3-0DFC-85770C2E0E44}"/>
              </a:ext>
            </a:extLst>
          </p:cNvPr>
          <p:cNvSpPr txBox="1"/>
          <p:nvPr/>
        </p:nvSpPr>
        <p:spPr>
          <a:xfrm>
            <a:off x="609600" y="2311400"/>
            <a:ext cx="1016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12A386"/>
                </a:solidFill>
                <a:latin typeface="Aptos" panose="020B0004020202020204" pitchFamily="34" charset="0"/>
              </a:rPr>
              <a:t>em uma operação conectada?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3999AB-0E0D-3A08-A87E-DBE0D76A14AE}"/>
              </a:ext>
            </a:extLst>
          </p:cNvPr>
          <p:cNvSpPr txBox="1"/>
          <p:nvPr/>
        </p:nvSpPr>
        <p:spPr>
          <a:xfrm>
            <a:off x="609600" y="3492500"/>
            <a:ext cx="952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>
                <a:solidFill>
                  <a:srgbClr val="8B7464"/>
                </a:solidFill>
                <a:latin typeface="Aptos" panose="020B0004020202020204" pitchFamily="34" charset="0"/>
              </a:rPr>
              <a:t>Próximo passo: diagnóstico da operação + definição de um piloto com indicadores de sucesso.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FBBC0C1-CF96-570C-75CB-92C451DFF37B}"/>
              </a:ext>
            </a:extLst>
          </p:cNvPr>
          <p:cNvSpPr/>
          <p:nvPr/>
        </p:nvSpPr>
        <p:spPr>
          <a:xfrm>
            <a:off x="609600" y="4699000"/>
            <a:ext cx="6604000" cy="825500"/>
          </a:xfrm>
          <a:prstGeom prst="roundRect">
            <a:avLst/>
          </a:prstGeom>
          <a:solidFill>
            <a:srgbClr val="0B2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B83678B-FBE2-7F4B-F742-E6FC73A12855}"/>
              </a:ext>
            </a:extLst>
          </p:cNvPr>
          <p:cNvSpPr txBox="1"/>
          <p:nvPr/>
        </p:nvSpPr>
        <p:spPr>
          <a:xfrm>
            <a:off x="914400" y="4991100"/>
            <a:ext cx="603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 b="1">
                <a:solidFill>
                  <a:srgbClr val="FFFFFF"/>
                </a:solidFill>
                <a:latin typeface="Aptos" panose="020B0004020202020204" pitchFamily="34" charset="0"/>
              </a:rPr>
              <a:t>ROTAS BRASIL RSM  •  GESTÃO QUE CONECTA</a:t>
            </a:r>
          </a:p>
        </p:txBody>
      </p:sp>
    </p:spTree>
    <p:extLst>
      <p:ext uri="{BB962C8B-B14F-4D97-AF65-F5344CB8AC3E}">
        <p14:creationId xmlns:p14="http://schemas.microsoft.com/office/powerpoint/2010/main" val="1550011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Microsoft Office PowerPoint</Application>
  <PresentationFormat>Apresentação na tela (16:9)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Souza Mendes</dc:creator>
  <cp:lastModifiedBy>Rene Souza Mendes</cp:lastModifiedBy>
  <cp:revision>1</cp:revision>
  <dcterms:created xsi:type="dcterms:W3CDTF">2026-08-23T00:44:45Z</dcterms:created>
  <dcterms:modified xsi:type="dcterms:W3CDTF">2026-08-23T00:44:45Z</dcterms:modified>
</cp:coreProperties>
</file>